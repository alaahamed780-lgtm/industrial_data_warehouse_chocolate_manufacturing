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8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3152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5CFF"/>
    <a:srgbClr val="080B24"/>
    <a:srgbClr val="00D9FF"/>
    <a:srgbClr val="FFB000"/>
    <a:srgbClr val="FF3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0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C2A5-6021-47EB-E7D6-02D9834AE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54864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402AE-C974-F712-8C49-D2424FC6C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802717"/>
            <a:ext cx="54864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062BD-9B6F-F97B-DB1B-1DEB83BF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5D42C-DA9D-394E-A878-35B8ED31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9E8E0-2DD4-C8CD-8FB4-5E0C04CE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8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0BB9-BCEE-8AFE-0C02-B671FD8D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5A1F-C79D-E379-ADA3-B9BF57E6B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6BEAD-EC53-F850-6F81-B34FAF9D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E7ABE-F97A-AD3D-5473-F80B35EC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EDED5-DF89-33EF-7CBF-5EBFFD3A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42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E09E-11E7-86DC-5619-CCC628FC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2279652"/>
            <a:ext cx="630936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C0C3C-C8B5-523A-174E-8FEF8E0B7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6119285"/>
            <a:ext cx="630936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1ABB-8E0C-0B0C-E046-A18142D4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0D46F-688C-5439-2490-C7CCEF20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6F91E-3F46-4957-3579-E5A482EF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9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1DC4-0953-47AE-09EF-A2E9F440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6B62-FDEA-0E0B-27D2-B2A4F7416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2434167"/>
            <a:ext cx="31089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B02BE-313E-2A7A-E5F2-A96632242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2434167"/>
            <a:ext cx="31089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48483-5BC0-4501-9979-16FECED8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D77E9-69D2-DDF0-CF2F-7B89481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F002C-5A46-6915-9037-02E898240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ED6AE-2D6C-0DD7-684D-A7A5FDE5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486834"/>
            <a:ext cx="630936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D9147-B46B-AE31-4764-E113F33C6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2241551"/>
            <a:ext cx="309467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D640B-7D69-787B-BE79-F4A9449FD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3340100"/>
            <a:ext cx="309467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4C677-B851-0D76-3717-DCA143188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0" y="2241551"/>
            <a:ext cx="310991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65B135-143D-BD5B-D5C8-A69E0483A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0" y="3340100"/>
            <a:ext cx="310991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78C38-5F6D-7E31-9294-3F9DF89B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9D19B-8692-052A-CAF6-2C67CA96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9EE25-FA1C-BF43-49A0-1AF60DF7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0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4ADF-109D-B285-F8D3-6740F5D7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C967B-0FE3-9D76-A1CC-D8F2C0CE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8981A-C99A-061D-6FCA-95A163A7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42482-F9E9-AFEF-065F-7B15A904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7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3F6F4-6C85-7CFB-EA9A-3F5D7A36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0DAC8-88EC-05AC-F236-A578CB9C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B64C6-F6DA-97DA-0D9F-A10FFCBA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7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F4E0-BB2D-D839-9B96-0183B827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609600"/>
            <a:ext cx="2359342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5F27-3FEF-2DD8-4AF9-B0C6E2DAB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1316567"/>
            <a:ext cx="370332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AB439-2D73-95EB-A9AB-6BF6C5529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2743200"/>
            <a:ext cx="2359342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C0673-06A2-6B73-59CB-BE3D839D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7F5C1-D0BA-B2A0-C11F-A245220D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ACBD8-F9F3-9F19-A994-48F020D6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2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2C7D-064D-8A49-D2FB-325D4B09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609600"/>
            <a:ext cx="2359342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7DC0E-E2D1-FF44-6E0A-F1474EB56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09913" y="1316567"/>
            <a:ext cx="370332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4EE62-1CA7-B906-94CA-4EACA651D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2743200"/>
            <a:ext cx="2359342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08E50-96AA-9740-3B97-B09AAE23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8D516-20A4-ED52-D434-5F7CB263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50AC-3E83-F3A5-624D-3B415967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3FCB-7921-F594-7E7A-B95842EB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7CD28-F0FC-3EFA-AFA6-C08AC303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6EF83-9F61-EB94-E355-66CEA384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E501B-6BEC-F876-09A4-3BA45DE5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2C303-F902-83FF-22A4-A2C5F0D3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76449-C2A5-C004-60D5-604E4093F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486834"/>
            <a:ext cx="157734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054EF-C4AB-51D5-FA63-44A1E707F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486834"/>
            <a:ext cx="464058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2252F-103C-8B36-A823-1A47A177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5C141-611A-78DC-B283-F7338BC5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E51ED-B2BB-B26A-2192-7537B85C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865F8-864F-1665-B23A-9E04F71F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86834"/>
            <a:ext cx="630936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1E172-BEAA-5A95-7E02-5528111F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2434167"/>
            <a:ext cx="630936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710FC-1E77-DA40-39B0-BB4FA5256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8475134"/>
            <a:ext cx="16459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72EDF-A526-4202-943A-B22BD9126C7D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81396-9A1C-7650-17C4-8BCF00F19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8475134"/>
            <a:ext cx="24688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786BF-533D-E4B0-D4DF-37026B421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8475134"/>
            <a:ext cx="16459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38370-27A3-4181-B004-3419DE526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26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D5ED61-8D3F-BC42-AEBA-5F9208E81DAF}"/>
              </a:ext>
            </a:extLst>
          </p:cNvPr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80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77A30-8DE8-A6B8-D19A-258851D0C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15200" cy="908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9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1A1DD-3EF0-86F6-C9CD-82E2903442AA}"/>
              </a:ext>
            </a:extLst>
          </p:cNvPr>
          <p:cNvSpPr/>
          <p:nvPr/>
        </p:nvSpPr>
        <p:spPr>
          <a:xfrm>
            <a:off x="0" y="0"/>
            <a:ext cx="7315200" cy="9195515"/>
          </a:xfrm>
          <a:prstGeom prst="rect">
            <a:avLst/>
          </a:prstGeom>
          <a:solidFill>
            <a:srgbClr val="080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17575-AFDE-7FFB-F5CA-BFC4EA79B19A}"/>
              </a:ext>
            </a:extLst>
          </p:cNvPr>
          <p:cNvSpPr txBox="1"/>
          <p:nvPr/>
        </p:nvSpPr>
        <p:spPr>
          <a:xfrm>
            <a:off x="0" y="257578"/>
            <a:ext cx="73152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EXECUTIVE MANUFACTURING OVERVIEW</a:t>
            </a:r>
          </a:p>
          <a:p>
            <a:endParaRPr 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92802-8FE6-0EE7-E076-F2EB1B053776}"/>
              </a:ext>
            </a:extLst>
          </p:cNvPr>
          <p:cNvSpPr txBox="1"/>
          <p:nvPr/>
        </p:nvSpPr>
        <p:spPr>
          <a:xfrm>
            <a:off x="0" y="745734"/>
            <a:ext cx="5898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</a:rPr>
              <a:t>Management-Level Manufacturing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A7831-4BA5-D334-07D5-18BC32854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023"/>
            <a:ext cx="7315200" cy="411822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71073F50-FF54-0619-723B-A56601999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6" y="0"/>
            <a:ext cx="823830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 PERFORMANCE INDICATORS</a:t>
            </a:r>
            <a:r>
              <a:rPr kumimoji="0" lang="en-US" altLang="en-US" sz="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64D0BF0-9DEF-359A-13CE-C39C8088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 PERFORMANCE INDICATORS</a:t>
            </a:r>
            <a:r>
              <a:rPr kumimoji="0" lang="en-US" altLang="en-US" sz="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D541E-A20F-30AE-4C95-A127A25C939F}"/>
              </a:ext>
            </a:extLst>
          </p:cNvPr>
          <p:cNvSpPr txBox="1"/>
          <p:nvPr/>
        </p:nvSpPr>
        <p:spPr>
          <a:xfrm>
            <a:off x="45076" y="5785120"/>
            <a:ext cx="493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PERFORMANCE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8EF854-9441-4459-190C-7BD2ADC64557}"/>
              </a:ext>
            </a:extLst>
          </p:cNvPr>
          <p:cNvSpPr txBox="1"/>
          <p:nvPr/>
        </p:nvSpPr>
        <p:spPr>
          <a:xfrm>
            <a:off x="19326" y="6400798"/>
            <a:ext cx="31939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1. Production Orders   100K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6B51D-45C3-2A0D-8920-12ECBADD2491}"/>
              </a:ext>
            </a:extLst>
          </p:cNvPr>
          <p:cNvSpPr txBox="1"/>
          <p:nvPr/>
        </p:nvSpPr>
        <p:spPr>
          <a:xfrm>
            <a:off x="25778" y="6851542"/>
            <a:ext cx="3284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2. Produced Quantity  113.33M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562C2-8202-B706-CFD0-D00D9D54B654}"/>
              </a:ext>
            </a:extLst>
          </p:cNvPr>
          <p:cNvSpPr txBox="1"/>
          <p:nvPr/>
        </p:nvSpPr>
        <p:spPr>
          <a:xfrm>
            <a:off x="38641" y="7316169"/>
            <a:ext cx="2768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3. Average Yield  98.40%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0FDBF-179B-269A-1207-27D292E993E1}"/>
              </a:ext>
            </a:extLst>
          </p:cNvPr>
          <p:cNvSpPr txBox="1"/>
          <p:nvPr/>
        </p:nvSpPr>
        <p:spPr>
          <a:xfrm>
            <a:off x="25766" y="7772178"/>
            <a:ext cx="343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4. Manufacturing Cost 209.67M</a:t>
            </a:r>
          </a:p>
        </p:txBody>
      </p:sp>
    </p:spTree>
    <p:extLst>
      <p:ext uri="{BB962C8B-B14F-4D97-AF65-F5344CB8AC3E}">
        <p14:creationId xmlns:p14="http://schemas.microsoft.com/office/powerpoint/2010/main" val="17424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D5A523-17CA-6132-5182-83567594D70F}"/>
              </a:ext>
            </a:extLst>
          </p:cNvPr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80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D8F23-7E44-ADB0-7EFA-95A95969171C}"/>
              </a:ext>
            </a:extLst>
          </p:cNvPr>
          <p:cNvSpPr txBox="1"/>
          <p:nvPr/>
        </p:nvSpPr>
        <p:spPr>
          <a:xfrm>
            <a:off x="193183" y="328411"/>
            <a:ext cx="7006107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EXECUTIVE INSIGHTS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What the Manufacturing Data Tells Us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rgbClr val="00D9FF"/>
                </a:solidFill>
              </a:rPr>
              <a:t>01  PRODUCTION PERFORMANCE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98.40% Plan Achievement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Production reached 113.33M units, achieving 98.40% of the production plan.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Business Meaning:</a:t>
            </a:r>
          </a:p>
          <a:p>
            <a:r>
              <a:rPr lang="en-US" sz="1200" dirty="0">
                <a:solidFill>
                  <a:schemeClr val="bg1"/>
                </a:solidFill>
              </a:rPr>
              <a:t>Production performance is strong, but there is still a small gap to the planned output.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rgbClr val="FF3B5C"/>
                </a:solidFill>
              </a:rPr>
              <a:t>02  YIELD PERFORMANCE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1.60% Below Target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Overall yield reached 98.40%, remaining 1.60% below the target.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Business Meaning: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There is an opportunity to reduce production losses and improve process efficiency.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rgbClr val="FFB000"/>
              </a:solidFill>
            </a:endParaRPr>
          </a:p>
          <a:p>
            <a:r>
              <a:rPr lang="en-US" sz="1400" b="1" dirty="0">
                <a:solidFill>
                  <a:srgbClr val="FFB000"/>
                </a:solidFill>
              </a:rPr>
              <a:t>03  MANUFACTURING COST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1.14% Above Plan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Total manufacturing cost reached 209.67M, approximately 1.14% above plan.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Business Meaning: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Cost control should be monitored alongside production performance to protect manufacturing margins.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rgbClr val="C85CFF"/>
                </a:solidFill>
              </a:rPr>
              <a:t>04  QUALITY PERFORMANCE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73.9% → 75.5%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Quality acceptance improved from approximately 73.9% in 2021 to around 75.5% in 2023, then remained relatively stable.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Business Meaning: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 improvement indicates better quality performance, while recent stabilization creates an opportunity for further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8816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2F42F1-77A1-1F6C-6F78-8384FB9F774B}"/>
              </a:ext>
            </a:extLst>
          </p:cNvPr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80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60964-41DA-8690-1B34-F556640978D1}"/>
              </a:ext>
            </a:extLst>
          </p:cNvPr>
          <p:cNvSpPr txBox="1"/>
          <p:nvPr/>
        </p:nvSpPr>
        <p:spPr>
          <a:xfrm>
            <a:off x="148107" y="238259"/>
            <a:ext cx="7018986" cy="85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MANAGEMENT RECOMMENDATIONS</a:t>
            </a:r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>
                    <a:lumMod val="75000"/>
                  </a:schemeClr>
                </a:solidFill>
              </a:rPr>
              <a:t>Turning Manufacturing Insights into Action</a:t>
            </a:r>
          </a:p>
          <a:p>
            <a:endParaRPr lang="en-US" sz="1200" b="1" dirty="0">
              <a:solidFill>
                <a:srgbClr val="00D9FF"/>
              </a:solidFill>
            </a:endParaRPr>
          </a:p>
          <a:p>
            <a:r>
              <a:rPr lang="en-US" sz="1200" b="1" dirty="0">
                <a:solidFill>
                  <a:srgbClr val="00D9FF"/>
                </a:solidFill>
              </a:rPr>
              <a:t>01  CLOSE THE PRODUCTION PLAN GAP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Production achieved 98.40% of the planned output.</a:t>
            </a:r>
          </a:p>
          <a:p>
            <a:r>
              <a:rPr lang="en-US" sz="1100" dirty="0">
                <a:solidFill>
                  <a:schemeClr val="bg1"/>
                </a:solidFill>
              </a:rPr>
              <a:t>Recommended Action:</a:t>
            </a:r>
          </a:p>
          <a:p>
            <a:r>
              <a:rPr lang="en-US" sz="1100" dirty="0">
                <a:solidFill>
                  <a:schemeClr val="bg1"/>
                </a:solidFill>
              </a:rPr>
              <a:t>Investigate the recurring gap between actual and planned production and identify the main operational constraints affecting output.</a:t>
            </a:r>
          </a:p>
          <a:p>
            <a:r>
              <a:rPr lang="en-US" sz="1100" dirty="0">
                <a:solidFill>
                  <a:schemeClr val="bg1"/>
                </a:solidFill>
              </a:rPr>
              <a:t>Focus Areas:</a:t>
            </a:r>
          </a:p>
          <a:p>
            <a:r>
              <a:rPr lang="en-US" sz="1100" dirty="0">
                <a:solidFill>
                  <a:schemeClr val="bg1"/>
                </a:solidFill>
              </a:rPr>
              <a:t>Production scheduling • Line capacity • Downtime • Material availability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200" b="1" dirty="0">
              <a:solidFill>
                <a:srgbClr val="C00000"/>
              </a:solidFill>
            </a:endParaRPr>
          </a:p>
          <a:p>
            <a:r>
              <a:rPr lang="en-US" sz="1200" b="1" dirty="0">
                <a:solidFill>
                  <a:srgbClr val="C00000"/>
                </a:solidFill>
              </a:rPr>
              <a:t>02  IMPROVE YIELD PERFORMANCE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Overall yield reached 98.40%, remaining 1.60% below target.</a:t>
            </a:r>
          </a:p>
          <a:p>
            <a:r>
              <a:rPr lang="en-US" sz="1100" dirty="0">
                <a:solidFill>
                  <a:schemeClr val="bg1"/>
                </a:solidFill>
              </a:rPr>
              <a:t>Recommended Action:</a:t>
            </a:r>
          </a:p>
          <a:p>
            <a:r>
              <a:rPr lang="en-US" sz="1100" dirty="0">
                <a:solidFill>
                  <a:schemeClr val="bg1"/>
                </a:solidFill>
              </a:rPr>
              <a:t>Analyze production losses, scrap, rework, and process deviations to identify the main drivers of yield loss.</a:t>
            </a:r>
          </a:p>
          <a:p>
            <a:r>
              <a:rPr lang="en-US" sz="1100" dirty="0">
                <a:solidFill>
                  <a:schemeClr val="bg1"/>
                </a:solidFill>
              </a:rPr>
              <a:t>Focus Areas:</a:t>
            </a:r>
          </a:p>
          <a:p>
            <a:r>
              <a:rPr lang="en-US" sz="1100" dirty="0">
                <a:solidFill>
                  <a:schemeClr val="bg1"/>
                </a:solidFill>
              </a:rPr>
              <a:t>Scrap reduction • Process stability • Root Cause Analysis • Continuous Improvement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FFC000"/>
                </a:solidFill>
              </a:rPr>
              <a:t>03  STRENGTHEN MANUFACTURING COST CONTROL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Manufacturing cost reached 209.67M, approximately 1.14% above plan.</a:t>
            </a:r>
          </a:p>
          <a:p>
            <a:r>
              <a:rPr lang="en-US" sz="1100" dirty="0">
                <a:solidFill>
                  <a:schemeClr val="bg1"/>
                </a:solidFill>
              </a:rPr>
              <a:t>Recommended Action:</a:t>
            </a:r>
          </a:p>
          <a:p>
            <a:r>
              <a:rPr lang="en-US" sz="1100" dirty="0">
                <a:solidFill>
                  <a:schemeClr val="bg1"/>
                </a:solidFill>
              </a:rPr>
              <a:t>Monitor cost variance by period, production line, product, and major cost drivers to identify opportunities for cost reduction.</a:t>
            </a:r>
          </a:p>
          <a:p>
            <a:r>
              <a:rPr lang="en-US" sz="1100" dirty="0">
                <a:solidFill>
                  <a:schemeClr val="bg1"/>
                </a:solidFill>
              </a:rPr>
              <a:t>Focus Areas:</a:t>
            </a:r>
          </a:p>
          <a:p>
            <a:r>
              <a:rPr lang="en-US" sz="1100" dirty="0">
                <a:solidFill>
                  <a:schemeClr val="bg1"/>
                </a:solidFill>
              </a:rPr>
              <a:t>Material cost • Production efficiency • Energy consumption • Maintenance cost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200" b="1" dirty="0">
              <a:solidFill>
                <a:srgbClr val="C85CFF"/>
              </a:solidFill>
            </a:endParaRPr>
          </a:p>
          <a:p>
            <a:r>
              <a:rPr lang="en-US" sz="1200" b="1" dirty="0">
                <a:solidFill>
                  <a:srgbClr val="C85CFF"/>
                </a:solidFill>
              </a:rPr>
              <a:t>04  SUSTAIN QUALITY IMPROVEMENT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Quality acceptance improved from approximately 73.9% in 2021 to around 75.5% in 2023, then remained relatively stable.</a:t>
            </a:r>
          </a:p>
          <a:p>
            <a:r>
              <a:rPr lang="en-US" sz="1100" dirty="0">
                <a:solidFill>
                  <a:schemeClr val="bg1"/>
                </a:solidFill>
              </a:rPr>
              <a:t>Recommended Action:</a:t>
            </a:r>
          </a:p>
          <a:p>
            <a:r>
              <a:rPr lang="en-US" sz="1100" dirty="0">
                <a:solidFill>
                  <a:schemeClr val="bg1"/>
                </a:solidFill>
              </a:rPr>
              <a:t>Investigate the factors behind the improvement and establish continuous monitoring to prevent quality deterioration.</a:t>
            </a:r>
          </a:p>
          <a:p>
            <a:r>
              <a:rPr lang="en-US" sz="1100" dirty="0">
                <a:solidFill>
                  <a:schemeClr val="bg1"/>
                </a:solidFill>
              </a:rPr>
              <a:t>Focus Areas:</a:t>
            </a:r>
          </a:p>
          <a:p>
            <a:r>
              <a:rPr lang="en-US" sz="1100" dirty="0">
                <a:solidFill>
                  <a:schemeClr val="bg1"/>
                </a:solidFill>
              </a:rPr>
              <a:t>Quality defects • Process capability • Inspection results • Non-Conformance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C85CFF"/>
                </a:solidFill>
              </a:rPr>
              <a:t>MANAGEMENT PRIORITY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Close the performance gaps by connecting Production, Quality, Maintenance, and Cost data into one decision-making framework.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DATA → INSIGHT → ACTION → IMPROVEMENT</a:t>
            </a:r>
          </a:p>
        </p:txBody>
      </p:sp>
    </p:spTree>
    <p:extLst>
      <p:ext uri="{BB962C8B-B14F-4D97-AF65-F5344CB8AC3E}">
        <p14:creationId xmlns:p14="http://schemas.microsoft.com/office/powerpoint/2010/main" val="340274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488157-58D9-C69F-14B4-B82096587E9E}"/>
              </a:ext>
            </a:extLst>
          </p:cNvPr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80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1957C-0D8A-E367-8BB0-7F72C44F05C0}"/>
              </a:ext>
            </a:extLst>
          </p:cNvPr>
          <p:cNvSpPr txBox="1"/>
          <p:nvPr/>
        </p:nvSpPr>
        <p:spPr>
          <a:xfrm>
            <a:off x="122349" y="141536"/>
            <a:ext cx="7070502" cy="900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BUSINESS IMPACT &amp; DECISION FRAMEWORK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From Data to Better Manufacturing Decisions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200" b="1" dirty="0">
              <a:solidFill>
                <a:srgbClr val="00D9FF"/>
              </a:solidFill>
            </a:endParaRPr>
          </a:p>
          <a:p>
            <a:r>
              <a:rPr lang="en-US" sz="1200" b="1" dirty="0">
                <a:solidFill>
                  <a:srgbClr val="00D9FF"/>
                </a:solidFill>
              </a:rPr>
              <a:t>01  DATA VISIBILITY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Integrated manufacturing data provides management with a unified view of Production, Quality, Maintenance, and Cost performance.</a:t>
            </a:r>
          </a:p>
          <a:p>
            <a:r>
              <a:rPr lang="en-US" sz="1100" dirty="0">
                <a:solidFill>
                  <a:schemeClr val="bg1"/>
                </a:solidFill>
              </a:rPr>
              <a:t>Business Value:</a:t>
            </a:r>
          </a:p>
          <a:p>
            <a:r>
              <a:rPr lang="en-US" sz="1100" dirty="0">
                <a:solidFill>
                  <a:schemeClr val="bg1"/>
                </a:solidFill>
              </a:rPr>
              <a:t>One reliable view of operational performance instead of disconnected departmental reports.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C00000"/>
                </a:solidFill>
              </a:rPr>
              <a:t>02  PERFORMANCE MONITORING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Power BI dashboards transform operational data into interactive KPIs and performance trends.</a:t>
            </a:r>
          </a:p>
          <a:p>
            <a:r>
              <a:rPr lang="en-US" sz="1100" dirty="0">
                <a:solidFill>
                  <a:schemeClr val="bg1"/>
                </a:solidFill>
              </a:rPr>
              <a:t>Business Value:</a:t>
            </a:r>
          </a:p>
          <a:p>
            <a:r>
              <a:rPr lang="en-US" sz="1100" dirty="0">
                <a:solidFill>
                  <a:schemeClr val="bg1"/>
                </a:solidFill>
              </a:rPr>
              <a:t>Management can quickly identify performance gaps, monitor trends, and compare actual results against targets and plans.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FFC000"/>
                </a:solidFill>
              </a:rPr>
              <a:t>03  ROOT CAUSE ANALYSIS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Combining production, quality, maintenance, and cost indicators creates a stronger foundation for investigating performance deviations.</a:t>
            </a:r>
          </a:p>
          <a:p>
            <a:r>
              <a:rPr lang="en-US" sz="1100" dirty="0">
                <a:solidFill>
                  <a:schemeClr val="bg1"/>
                </a:solidFill>
              </a:rPr>
              <a:t>Business Value:</a:t>
            </a:r>
          </a:p>
          <a:p>
            <a:r>
              <a:rPr lang="en-US" sz="1100" dirty="0">
                <a:solidFill>
                  <a:schemeClr val="bg1"/>
                </a:solidFill>
              </a:rPr>
              <a:t>Move from reporting what happened to understanding where and why performance changed</a:t>
            </a:r>
            <a:r>
              <a:rPr lang="en-US" sz="1000" dirty="0">
                <a:solidFill>
                  <a:schemeClr val="bg1"/>
                </a:solidFill>
              </a:rPr>
              <a:t>.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C85CFF"/>
                </a:solidFill>
              </a:rPr>
              <a:t>04  DATA-DRIVEN DECISIONS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The analytical framework supports faster and more informed manufacturing decisions.</a:t>
            </a:r>
          </a:p>
          <a:p>
            <a:r>
              <a:rPr lang="en-US" sz="1100" dirty="0">
                <a:solidFill>
                  <a:schemeClr val="bg1"/>
                </a:solidFill>
              </a:rPr>
              <a:t>Business Value:</a:t>
            </a:r>
          </a:p>
          <a:p>
            <a:r>
              <a:rPr lang="en-US" sz="1100" dirty="0">
                <a:solidFill>
                  <a:schemeClr val="bg1"/>
                </a:solidFill>
              </a:rPr>
              <a:t>Turn industrial data into actionable insights that support productivity, quality improvement, cost control, and operational reliability.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C85CFF"/>
                </a:solidFill>
              </a:rPr>
              <a:t>DECISION FRAMEWORK</a:t>
            </a:r>
          </a:p>
          <a:p>
            <a:endParaRPr lang="en-US" sz="10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DATA</a:t>
            </a:r>
          </a:p>
          <a:p>
            <a:r>
              <a:rPr lang="en-US" sz="1100" dirty="0">
                <a:solidFill>
                  <a:schemeClr val="bg1"/>
                </a:solidFill>
              </a:rPr>
              <a:t>↓</a:t>
            </a:r>
          </a:p>
          <a:p>
            <a:r>
              <a:rPr lang="en-US" sz="1100" dirty="0">
                <a:solidFill>
                  <a:schemeClr val="bg1"/>
                </a:solidFill>
              </a:rPr>
              <a:t>KPI</a:t>
            </a:r>
          </a:p>
          <a:p>
            <a:r>
              <a:rPr lang="en-US" sz="1100" dirty="0">
                <a:solidFill>
                  <a:schemeClr val="bg1"/>
                </a:solidFill>
              </a:rPr>
              <a:t>↓</a:t>
            </a:r>
          </a:p>
          <a:p>
            <a:r>
              <a:rPr lang="en-US" sz="1100" dirty="0">
                <a:solidFill>
                  <a:schemeClr val="bg1"/>
                </a:solidFill>
              </a:rPr>
              <a:t>INSIGHT</a:t>
            </a:r>
          </a:p>
          <a:p>
            <a:r>
              <a:rPr lang="en-US" sz="1100" dirty="0">
                <a:solidFill>
                  <a:schemeClr val="bg1"/>
                </a:solidFill>
              </a:rPr>
              <a:t>↓</a:t>
            </a:r>
          </a:p>
          <a:p>
            <a:r>
              <a:rPr lang="en-US" sz="1100" dirty="0">
                <a:solidFill>
                  <a:schemeClr val="bg1"/>
                </a:solidFill>
              </a:rPr>
              <a:t>ACTION</a:t>
            </a:r>
          </a:p>
          <a:p>
            <a:r>
              <a:rPr lang="en-US" sz="1100" dirty="0">
                <a:solidFill>
                  <a:schemeClr val="bg1"/>
                </a:solidFill>
              </a:rPr>
              <a:t>↓</a:t>
            </a:r>
          </a:p>
          <a:p>
            <a:r>
              <a:rPr lang="en-US" sz="1100" dirty="0">
                <a:solidFill>
                  <a:schemeClr val="bg1"/>
                </a:solidFill>
              </a:rPr>
              <a:t>BUSINESS IMPACT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BUSINESS IMPACT AREAS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Productivity • Quality • Cost Control • Reliability •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41264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0A1321-1529-52E9-B104-3105B19AFDA8}"/>
              </a:ext>
            </a:extLst>
          </p:cNvPr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80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9AFE9-0F72-11AB-7F87-6C3F67FAF0BD}"/>
              </a:ext>
            </a:extLst>
          </p:cNvPr>
          <p:cNvSpPr txBox="1"/>
          <p:nvPr/>
        </p:nvSpPr>
        <p:spPr>
          <a:xfrm>
            <a:off x="112690" y="172313"/>
            <a:ext cx="7089820" cy="897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TECHNOLOGY &amp; PROJECT ARCHITECTURE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>
                    <a:lumMod val="65000"/>
                  </a:schemeClr>
                </a:solidFill>
              </a:rPr>
              <a:t>Building the Data Foundation Behind the Dashboard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rgbClr val="00B0F0"/>
              </a:solidFill>
            </a:endParaRPr>
          </a:p>
          <a:p>
            <a:r>
              <a:rPr lang="en-US" sz="1100" b="1" dirty="0">
                <a:solidFill>
                  <a:srgbClr val="00B0F0"/>
                </a:solidFill>
              </a:rPr>
              <a:t>01  DATA SOURCE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Industrial Manufacturing Data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Production • Quality • Maintenance • Inventory • Cost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Raw operational data generated across manufacturing departments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rgbClr val="C00000"/>
                </a:solidFill>
              </a:rPr>
              <a:t>02  DATA WAREHOUSE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SQL SERVER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Enterprise Data Warehouse designed to centralize and organize manufacturing data.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ETL Pipeline • Staging Layer • Master Layer • Data Validation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rgbClr val="FFC000"/>
              </a:solidFill>
            </a:endParaRPr>
          </a:p>
          <a:p>
            <a:r>
              <a:rPr lang="en-US" sz="1100" b="1" dirty="0">
                <a:solidFill>
                  <a:srgbClr val="FFC000"/>
                </a:solidFill>
              </a:rPr>
              <a:t>03  DATA MODEL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STAR SCHEMA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Fact tables connected with reusable Dimension tables to create a scalable analytical model.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Fact Production • Dim Date • Dim Product • Dim Equipment • Dim Plant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rgbClr val="C85CFF"/>
              </a:solidFill>
            </a:endParaRPr>
          </a:p>
          <a:p>
            <a:r>
              <a:rPr lang="en-US" sz="1100" b="1" dirty="0">
                <a:solidFill>
                  <a:srgbClr val="C85CFF"/>
                </a:solidFill>
              </a:rPr>
              <a:t>04  BUSINESS INTELLIGENCE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POWER BI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Interactive dashboards transform the analytical model into actionable manufacturing insights.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DAX Measures • KPIs • Interactive Filters • Drill-Through • Navigation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END-TO-END ANALYTICS FLOW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INDUSTRIAL DATA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        ↓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SQL SERVER DATA WAREHOUSE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        ↓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STAR SCHEMA DATA MODEL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        ↓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POWER BI SEMANTIC MODEL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        ↓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MANUFACTURING DASHBOARDS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        ↓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BUSINESS INSIGHTS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        ↓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DATA-DRIVEN DECISIONS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rgbClr val="C85CFF"/>
                </a:solidFill>
              </a:rPr>
              <a:t>PROJECT OUTCOME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A scalable manufacturing analytics foundation that connects operational data with business decisions across Production, Quality, Maintenance, Inventory, and Cost.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TOOLS &amp; TECHNOLOGIES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SQL Server • SQL • Power BI • DAX • Data Modeling • ETL • Manufacturing Analytics</a:t>
            </a:r>
          </a:p>
        </p:txBody>
      </p:sp>
    </p:spTree>
    <p:extLst>
      <p:ext uri="{BB962C8B-B14F-4D97-AF65-F5344CB8AC3E}">
        <p14:creationId xmlns:p14="http://schemas.microsoft.com/office/powerpoint/2010/main" val="226937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843</Words>
  <Application>Microsoft Office PowerPoint</Application>
  <PresentationFormat>Custom</PresentationFormat>
  <Paragraphs>201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Kadous, Gamil</dc:creator>
  <cp:lastModifiedBy>Kadous, Gamil</cp:lastModifiedBy>
  <cp:revision>18</cp:revision>
  <dcterms:created xsi:type="dcterms:W3CDTF">2026-08-15T01:30:06Z</dcterms:created>
  <dcterms:modified xsi:type="dcterms:W3CDTF">2026-08-15T18:22:59Z</dcterms:modified>
</cp:coreProperties>
</file>